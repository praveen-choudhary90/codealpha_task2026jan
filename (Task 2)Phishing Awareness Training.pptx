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1" r:id="rId19"/>
    <p:sldId id="272" r:id="rId20"/>
    <p:sldId id="273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432" autoAdjust="0"/>
  </p:normalViewPr>
  <p:slideViewPr>
    <p:cSldViewPr snapToGrid="0">
      <p:cViewPr varScale="1">
        <p:scale>
          <a:sx n="106" d="100"/>
          <a:sy n="106" d="100"/>
        </p:scale>
        <p:origin x="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2CDE5F-0792-4F50-A663-B27E40206DD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D6F3F-0469-4F5A-AA99-67401D9FCA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0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D6F3F-0469-4F5A-AA99-67401D9FCA3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82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D6F3F-0469-4F5A-AA99-67401D9FCA3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12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6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24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96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9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34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3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04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08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117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03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539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2590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945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898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789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6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43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DCEA8-EDC8-48D6-B2FE-7865460AE1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9448A-3EFC-4CC4-9266-DA087EB69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473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62B8-195E-FC1E-5F78-29073CD25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Phishing Awareness</a:t>
            </a:r>
            <a:br>
              <a:rPr lang="en-IN" dirty="0"/>
            </a:br>
            <a:r>
              <a:rPr lang="en-IN" dirty="0"/>
              <a:t>			Training</a:t>
            </a:r>
          </a:p>
        </p:txBody>
      </p:sp>
    </p:spTree>
    <p:extLst>
      <p:ext uri="{BB962C8B-B14F-4D97-AF65-F5344CB8AC3E}">
        <p14:creationId xmlns:p14="http://schemas.microsoft.com/office/powerpoint/2010/main" val="126045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732E-FAC3-EAA1-8EED-C3B5A64B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53" y="984518"/>
            <a:ext cx="4114800" cy="1600200"/>
          </a:xfrm>
        </p:spPr>
        <p:txBody>
          <a:bodyPr/>
          <a:lstStyle/>
          <a:p>
            <a:r>
              <a:rPr lang="en-IN" dirty="0"/>
              <a:t>1️⃣ What is Phishing?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82CFD-29B8-9632-62C9-A45E1582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7595" y="2778997"/>
            <a:ext cx="4114800" cy="3094485"/>
          </a:xfrm>
        </p:spPr>
        <p:txBody>
          <a:bodyPr/>
          <a:lstStyle/>
          <a:p>
            <a:r>
              <a:rPr lang="en-IN" b="1" dirty="0"/>
              <a:t>Phishing</a:t>
            </a:r>
            <a:r>
              <a:rPr lang="en-IN" dirty="0"/>
              <a:t> is a cyberattack where attackers impersonate trusted entities (banks, companies, friends) to steal:</a:t>
            </a:r>
          </a:p>
          <a:p>
            <a:r>
              <a:rPr lang="en-IN" dirty="0"/>
              <a:t>Passwords</a:t>
            </a:r>
          </a:p>
          <a:p>
            <a:r>
              <a:rPr lang="en-IN" dirty="0"/>
              <a:t>OTPs</a:t>
            </a:r>
          </a:p>
          <a:p>
            <a:r>
              <a:rPr lang="en-IN" dirty="0"/>
              <a:t>Credit/debit card details</a:t>
            </a:r>
          </a:p>
          <a:p>
            <a:r>
              <a:rPr lang="en-IN" dirty="0"/>
              <a:t>Personal information</a:t>
            </a:r>
          </a:p>
          <a:p>
            <a:r>
              <a:rPr lang="en-IN" dirty="0"/>
              <a:t>📌 </a:t>
            </a:r>
            <a:r>
              <a:rPr lang="en-IN" b="1" dirty="0"/>
              <a:t>Goal:</a:t>
            </a:r>
            <a:r>
              <a:rPr lang="en-IN" dirty="0"/>
              <a:t> Trick users into clicking malicious links or downloading harmful files.</a:t>
            </a:r>
          </a:p>
          <a:p>
            <a:endParaRPr lang="en-IN" dirty="0"/>
          </a:p>
        </p:txBody>
      </p:sp>
      <p:pic>
        <p:nvPicPr>
          <p:cNvPr id="1026" name="Picture 2" descr="What is phishing? | Phishing attack prevention | Cloudflare">
            <a:extLst>
              <a:ext uri="{FF2B5EF4-FFF2-40B4-BE49-F238E27FC236}">
                <a16:creationId xmlns:a16="http://schemas.microsoft.com/office/drawing/2014/main" id="{D1143396-18A7-F2AB-6C8A-D5613F9BAD4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863" y="1784618"/>
            <a:ext cx="6510337" cy="339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36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80A23-C5FA-37CB-BF3A-1F950483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990" y="761999"/>
            <a:ext cx="9605210" cy="1303867"/>
          </a:xfrm>
        </p:spPr>
        <p:txBody>
          <a:bodyPr/>
          <a:lstStyle/>
          <a:p>
            <a:r>
              <a:rPr lang="en-US" dirty="0"/>
              <a:t>Some basic example of phishing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E25C5-7450-9708-238D-CEF4FE943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 phishing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21782-80DD-DB8F-7EC3-EC904B1BE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Evil twin phishing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F9AC18-4E55-2389-2503-EC33E5118E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vishing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D6670D-7A21-1985-6F45-071E20E3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73" y="3045933"/>
            <a:ext cx="4167169" cy="289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CCB800-F0B3-CE67-1FC4-173227901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941" y="3022779"/>
            <a:ext cx="2198327" cy="3473358"/>
          </a:xfrm>
          <a:prstGeom prst="rect">
            <a:avLst/>
          </a:prstGeom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DA774F80-85EC-B0FA-5D40-CC4F48320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989" y="3022779"/>
            <a:ext cx="4592050" cy="258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169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35B1-E32D-C37D-A2DF-4637DE63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820152"/>
            <a:ext cx="6873240" cy="1600200"/>
          </a:xfrm>
        </p:spPr>
        <p:txBody>
          <a:bodyPr/>
          <a:lstStyle/>
          <a:p>
            <a:r>
              <a:rPr lang="en-IN" dirty="0"/>
              <a:t>2️⃣</a:t>
            </a:r>
            <a:r>
              <a:rPr lang="en-US" dirty="0"/>
              <a:t>Types of phishing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6B645-C5DC-9BAF-F7A2-A5422E436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689" y="2727156"/>
            <a:ext cx="6873240" cy="3094485"/>
          </a:xfrm>
        </p:spPr>
        <p:txBody>
          <a:bodyPr/>
          <a:lstStyle/>
          <a:p>
            <a:r>
              <a:rPr lang="en-US" b="1" dirty="0"/>
              <a:t>Common Types:</a:t>
            </a:r>
          </a:p>
          <a:p>
            <a:r>
              <a:rPr lang="en-US" b="1" dirty="0"/>
              <a:t>Email Phishing</a:t>
            </a:r>
            <a:r>
              <a:rPr lang="en-US" dirty="0"/>
              <a:t> – Fake emails pretending to be legit</a:t>
            </a:r>
          </a:p>
          <a:p>
            <a:r>
              <a:rPr lang="en-US" b="1" dirty="0"/>
              <a:t>Spear Phishing</a:t>
            </a:r>
            <a:r>
              <a:rPr lang="en-US" dirty="0"/>
              <a:t> – Targeted attacks on specific individuals</a:t>
            </a:r>
          </a:p>
          <a:p>
            <a:r>
              <a:rPr lang="en-US" b="1" dirty="0"/>
              <a:t>Smishing</a:t>
            </a:r>
            <a:r>
              <a:rPr lang="en-US" dirty="0"/>
              <a:t> – Phishing via SMS</a:t>
            </a:r>
          </a:p>
          <a:p>
            <a:r>
              <a:rPr lang="en-US" b="1" dirty="0"/>
              <a:t>Vishing</a:t>
            </a:r>
            <a:r>
              <a:rPr lang="en-US" dirty="0"/>
              <a:t> – Phishing via phone calls</a:t>
            </a:r>
          </a:p>
          <a:p>
            <a:r>
              <a:rPr lang="en-US" b="1" dirty="0"/>
              <a:t>Clone Phishing</a:t>
            </a:r>
            <a:r>
              <a:rPr lang="en-US" dirty="0"/>
              <a:t> – Copy of a real email with a malicious link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74299F-5C16-79D5-051D-030EC6D7E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926" y="1245269"/>
            <a:ext cx="4779590" cy="484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6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B925-A20C-C7F1-705E-F34BC679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69" y="1257299"/>
            <a:ext cx="6873240" cy="802105"/>
          </a:xfrm>
        </p:spPr>
        <p:txBody>
          <a:bodyPr/>
          <a:lstStyle/>
          <a:p>
            <a:r>
              <a:rPr lang="en-US" dirty="0"/>
              <a:t>Email phishing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E6ACD-3B87-5CC9-8BC0-21EEAF52B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626" y="2171701"/>
            <a:ext cx="6939414" cy="430730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🔹 What it is</a:t>
            </a:r>
          </a:p>
          <a:p>
            <a:r>
              <a:rPr lang="en-US" dirty="0"/>
              <a:t>Email phishing is the </a:t>
            </a:r>
            <a:r>
              <a:rPr lang="en-US" b="1" dirty="0"/>
              <a:t>most common phishing attack</a:t>
            </a:r>
            <a:r>
              <a:rPr lang="en-US" dirty="0"/>
              <a:t> where attackers send fake emails pretending to be trusted organizations like banks, Google, Amazon, or colleges.</a:t>
            </a:r>
          </a:p>
          <a:p>
            <a:r>
              <a:rPr lang="en-US" b="1" dirty="0"/>
              <a:t>🔹 How it works</a:t>
            </a:r>
          </a:p>
          <a:p>
            <a:r>
              <a:rPr lang="en-US" dirty="0"/>
              <a:t>Attacker sends a fake email</a:t>
            </a:r>
          </a:p>
          <a:p>
            <a:r>
              <a:rPr lang="en-US" dirty="0"/>
              <a:t>Email contains a </a:t>
            </a:r>
            <a:r>
              <a:rPr lang="en-US" b="1" dirty="0"/>
              <a:t>malicious link or attachment</a:t>
            </a:r>
            <a:endParaRPr lang="en-US" dirty="0"/>
          </a:p>
          <a:p>
            <a:r>
              <a:rPr lang="en-US" dirty="0"/>
              <a:t>Victim clicks → redirected to fake website</a:t>
            </a:r>
          </a:p>
          <a:p>
            <a:r>
              <a:rPr lang="en-US" dirty="0"/>
              <a:t>Login details or OTPs are stolen</a:t>
            </a:r>
          </a:p>
          <a:p>
            <a:r>
              <a:rPr lang="en-US" b="1" dirty="0"/>
              <a:t>🔹 Common Signs</a:t>
            </a:r>
          </a:p>
          <a:p>
            <a:r>
              <a:rPr lang="en-US" dirty="0"/>
              <a:t>Urgent messages like </a:t>
            </a:r>
            <a:r>
              <a:rPr lang="en-US" i="1" dirty="0"/>
              <a:t>“Verify immediately”</a:t>
            </a:r>
            <a:endParaRPr lang="en-US" dirty="0"/>
          </a:p>
          <a:p>
            <a:r>
              <a:rPr lang="en-US" dirty="0"/>
              <a:t>Fake sender addresses</a:t>
            </a:r>
          </a:p>
          <a:p>
            <a:r>
              <a:rPr lang="en-US" dirty="0"/>
              <a:t>Grammar mistakes</a:t>
            </a:r>
          </a:p>
          <a:p>
            <a:r>
              <a:rPr lang="en-US" dirty="0"/>
              <a:t>Unexpected attachments</a:t>
            </a:r>
          </a:p>
          <a:p>
            <a:r>
              <a:rPr lang="en-US" b="1" dirty="0"/>
              <a:t>🔹 Example</a:t>
            </a:r>
          </a:p>
          <a:p>
            <a:r>
              <a:rPr lang="en-US" dirty="0"/>
              <a:t>Fake bank email asking to “update KYC details”.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30BB52-5978-7BE5-3BF1-7661E7E70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773" y="2219686"/>
            <a:ext cx="5738118" cy="443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9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280D-62E7-CA97-5F38-F81CC599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42" y="1401678"/>
            <a:ext cx="6873240" cy="741947"/>
          </a:xfrm>
        </p:spPr>
        <p:txBody>
          <a:bodyPr/>
          <a:lstStyle/>
          <a:p>
            <a:r>
              <a:rPr lang="en-IN" dirty="0"/>
              <a:t>Spear Phishing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25AC6-648D-1CFE-975D-A082DD767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1342" y="2288004"/>
            <a:ext cx="6873240" cy="435342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🔹 What it is</a:t>
            </a:r>
          </a:p>
          <a:p>
            <a:r>
              <a:rPr lang="en-US" dirty="0"/>
              <a:t>Spear phishing is a </a:t>
            </a:r>
            <a:r>
              <a:rPr lang="en-US" b="1" dirty="0"/>
              <a:t>targeted phishing attack</a:t>
            </a:r>
            <a:r>
              <a:rPr lang="en-US" dirty="0"/>
              <a:t> aimed at a </a:t>
            </a:r>
            <a:r>
              <a:rPr lang="en-US" b="1" dirty="0"/>
              <a:t>specific person or organization</a:t>
            </a:r>
            <a:r>
              <a:rPr lang="en-US" dirty="0"/>
              <a:t>.</a:t>
            </a:r>
          </a:p>
          <a:p>
            <a:r>
              <a:rPr lang="en-US" b="1" dirty="0"/>
              <a:t>🔹 How it works</a:t>
            </a:r>
          </a:p>
          <a:p>
            <a:r>
              <a:rPr lang="en-US" dirty="0"/>
              <a:t>Attacker collects personal info (name, role, company)</a:t>
            </a:r>
          </a:p>
          <a:p>
            <a:r>
              <a:rPr lang="en-US" dirty="0"/>
              <a:t>Crafts a </a:t>
            </a:r>
            <a:r>
              <a:rPr lang="en-US" b="1" dirty="0"/>
              <a:t>personalized email</a:t>
            </a:r>
            <a:endParaRPr lang="en-US" dirty="0"/>
          </a:p>
          <a:p>
            <a:r>
              <a:rPr lang="en-US" dirty="0"/>
              <a:t>Appears very genuine and trustworthy</a:t>
            </a:r>
          </a:p>
          <a:p>
            <a:r>
              <a:rPr lang="en-US" b="1" dirty="0"/>
              <a:t>🔹 Why it’s Dangerous</a:t>
            </a:r>
          </a:p>
          <a:p>
            <a:r>
              <a:rPr lang="en-US" dirty="0"/>
              <a:t>Harder to detect</a:t>
            </a:r>
          </a:p>
          <a:p>
            <a:r>
              <a:rPr lang="en-US" dirty="0"/>
              <a:t>Higher success rate</a:t>
            </a:r>
          </a:p>
          <a:p>
            <a:r>
              <a:rPr lang="en-US" dirty="0"/>
              <a:t>Often used in corporate breaches</a:t>
            </a:r>
          </a:p>
          <a:p>
            <a:r>
              <a:rPr lang="en-US" b="1" dirty="0"/>
              <a:t>🔹 Example</a:t>
            </a:r>
          </a:p>
          <a:p>
            <a:r>
              <a:rPr lang="en-US" dirty="0"/>
              <a:t>Email sent to an employee pretending to be the company HR asking for salary details.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A129B1-77AD-E86F-3E2D-63F29552B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436" y="2997435"/>
            <a:ext cx="5321469" cy="293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3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6BDC-F34D-E0D3-0C72-6840DAD9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231" y="1263315"/>
            <a:ext cx="6873240" cy="633663"/>
          </a:xfrm>
        </p:spPr>
        <p:txBody>
          <a:bodyPr/>
          <a:lstStyle/>
          <a:p>
            <a:r>
              <a:rPr lang="en-IN" dirty="0"/>
              <a:t>Smishing (SMS Phishing)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0CE49-8ADD-696B-EF8A-832B91B5E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9231" y="2023310"/>
            <a:ext cx="6873240" cy="4233112"/>
          </a:xfrm>
        </p:spPr>
        <p:txBody>
          <a:bodyPr/>
          <a:lstStyle/>
          <a:p>
            <a:r>
              <a:rPr lang="en-US" b="1" dirty="0"/>
              <a:t>🔹 What it is</a:t>
            </a:r>
          </a:p>
          <a:p>
            <a:r>
              <a:rPr lang="en-US" dirty="0"/>
              <a:t>Smishing is phishing carried out through </a:t>
            </a:r>
            <a:r>
              <a:rPr lang="en-US" b="1" dirty="0"/>
              <a:t>SMS/text messages</a:t>
            </a:r>
            <a:r>
              <a:rPr lang="en-US" dirty="0"/>
              <a:t>.</a:t>
            </a:r>
          </a:p>
          <a:p>
            <a:r>
              <a:rPr lang="en-US" b="1" dirty="0"/>
              <a:t>🔹 How it works</a:t>
            </a:r>
          </a:p>
          <a:p>
            <a:r>
              <a:rPr lang="en-US" dirty="0"/>
              <a:t>Fake SMS contains a link or phone number</a:t>
            </a:r>
          </a:p>
          <a:p>
            <a:r>
              <a:rPr lang="en-US" dirty="0"/>
              <a:t>Message creates urgency or curiosity</a:t>
            </a:r>
          </a:p>
          <a:p>
            <a:r>
              <a:rPr lang="en-US" dirty="0"/>
              <a:t>Clicking link installs malware or steals data</a:t>
            </a:r>
          </a:p>
          <a:p>
            <a:r>
              <a:rPr lang="en-US" b="1" dirty="0"/>
              <a:t>🔹 Common Messages</a:t>
            </a:r>
          </a:p>
          <a:p>
            <a:r>
              <a:rPr lang="en-US" dirty="0"/>
              <a:t>“Your parcel is pending”</a:t>
            </a:r>
          </a:p>
          <a:p>
            <a:r>
              <a:rPr lang="en-US" dirty="0"/>
              <a:t>“Your account is blocked”</a:t>
            </a:r>
          </a:p>
          <a:p>
            <a:r>
              <a:rPr lang="en-US" dirty="0"/>
              <a:t>“Click to claim reward”</a:t>
            </a:r>
          </a:p>
          <a:p>
            <a:r>
              <a:rPr lang="en-US" b="1" dirty="0"/>
              <a:t>🔹 Example</a:t>
            </a:r>
          </a:p>
          <a:p>
            <a:r>
              <a:rPr lang="en-US" dirty="0"/>
              <a:t>SMS saying </a:t>
            </a:r>
            <a:r>
              <a:rPr lang="en-US" i="1" dirty="0"/>
              <a:t>“Track your delivery”</a:t>
            </a:r>
            <a:r>
              <a:rPr lang="en-US" dirty="0"/>
              <a:t> with a malicious link.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A4EE70-966E-0065-6CD3-CA6769B8B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372" y="2722118"/>
            <a:ext cx="6518194" cy="316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4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BAC2-7A62-1562-28D7-6F5DC243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96" y="762000"/>
            <a:ext cx="10327104" cy="1295400"/>
          </a:xfrm>
        </p:spPr>
        <p:txBody>
          <a:bodyPr/>
          <a:lstStyle/>
          <a:p>
            <a:r>
              <a:rPr lang="en-IN" dirty="0"/>
              <a:t>3️⃣</a:t>
            </a:r>
            <a:r>
              <a:rPr lang="en-US" dirty="0"/>
              <a:t>How to Recognize Phishing Emails</a:t>
            </a:r>
            <a:endParaRPr lang="en-IN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5B1BE936-7140-A6B1-3450-F8AC502FB306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19" b="21419"/>
          <a:stretch>
            <a:fillRect/>
          </a:stretch>
        </p:blipFill>
        <p:spPr>
          <a:xfrm>
            <a:off x="5152335" y="4529890"/>
            <a:ext cx="4405308" cy="1945105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C83A81-EA39-4B00-F53E-0F25B8B4868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867378" y="2057400"/>
            <a:ext cx="7152169" cy="2430379"/>
          </a:xfrm>
        </p:spPr>
        <p:txBody>
          <a:bodyPr/>
          <a:lstStyle/>
          <a:p>
            <a:r>
              <a:rPr lang="en-IN" dirty="0"/>
              <a:t>🚩 </a:t>
            </a:r>
            <a:r>
              <a:rPr lang="en-IN" b="1" dirty="0"/>
              <a:t>Red Flags in Emails:</a:t>
            </a:r>
            <a:endParaRPr lang="en-IN" dirty="0"/>
          </a:p>
          <a:p>
            <a:r>
              <a:rPr lang="en-IN" dirty="0"/>
              <a:t>Urgent language (“Act now!”, “Account will be locked”)</a:t>
            </a:r>
          </a:p>
          <a:p>
            <a:r>
              <a:rPr lang="en-IN" dirty="0"/>
              <a:t>Suspicious sender email (e.g., support@paypa1.com)</a:t>
            </a:r>
          </a:p>
          <a:p>
            <a:r>
              <a:rPr lang="en-IN" dirty="0"/>
              <a:t>Spelling &amp; grammar mistakes</a:t>
            </a:r>
          </a:p>
          <a:p>
            <a:r>
              <a:rPr lang="en-IN" dirty="0"/>
              <a:t>Unexpected attachments or links</a:t>
            </a:r>
          </a:p>
          <a:p>
            <a:r>
              <a:rPr lang="en-IN" dirty="0"/>
              <a:t>Requests for sensitive information</a:t>
            </a:r>
          </a:p>
          <a:p>
            <a:r>
              <a:rPr lang="en-IN" dirty="0"/>
              <a:t>✅ </a:t>
            </a:r>
            <a:r>
              <a:rPr lang="en-IN" b="1" dirty="0"/>
              <a:t>Rule:</a:t>
            </a:r>
            <a:r>
              <a:rPr lang="en-IN" dirty="0"/>
              <a:t> Legit companies NEVER ask for passwords or OTPs via email.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E1EE381-AA9B-5483-D9FC-44589A063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05" y="1726531"/>
            <a:ext cx="3759393" cy="486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97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C1AE-536B-FB6F-5CF8-103F0548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784" y="762000"/>
            <a:ext cx="9683415" cy="1295400"/>
          </a:xfrm>
        </p:spPr>
        <p:txBody>
          <a:bodyPr/>
          <a:lstStyle/>
          <a:p>
            <a:r>
              <a:rPr lang="en-US" dirty="0"/>
              <a:t>4️⃣ How to Identify Fake Websites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ECDCCA-644F-3CBA-1285-69E607743935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825268" y="1693052"/>
            <a:ext cx="7206311" cy="2139005"/>
          </a:xfrm>
        </p:spPr>
        <p:txBody>
          <a:bodyPr>
            <a:normAutofit/>
          </a:bodyPr>
          <a:lstStyle/>
          <a:p>
            <a:r>
              <a:rPr lang="en-IN" dirty="0"/>
              <a:t>🔍 </a:t>
            </a:r>
            <a:r>
              <a:rPr lang="en-IN" b="1" dirty="0"/>
              <a:t>Check Before You Trust:</a:t>
            </a:r>
            <a:endParaRPr lang="en-IN" dirty="0"/>
          </a:p>
          <a:p>
            <a:r>
              <a:rPr lang="en-IN" dirty="0"/>
              <a:t>URL spelling errors (amaz0n, g00gle)</a:t>
            </a:r>
          </a:p>
          <a:p>
            <a:r>
              <a:rPr lang="en-IN" dirty="0"/>
              <a:t>No HTTPS or broken lock icon</a:t>
            </a:r>
          </a:p>
          <a:p>
            <a:r>
              <a:rPr lang="en-IN" dirty="0"/>
              <a:t>Poor design / fake logos</a:t>
            </a:r>
          </a:p>
          <a:p>
            <a:r>
              <a:rPr lang="en-IN" dirty="0"/>
              <a:t>Login pages asking excessive information</a:t>
            </a:r>
          </a:p>
          <a:p>
            <a:r>
              <a:rPr lang="en-IN" dirty="0"/>
              <a:t>🛑 Always type website URLs manually instead of clicking links.</a:t>
            </a:r>
          </a:p>
          <a:p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1A98D5B-FD45-354F-FAA9-F94C9329A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27" y="1693052"/>
            <a:ext cx="4407568" cy="24462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C8A6F1B-56A3-B910-5CAB-BB45880EB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27" y="4293268"/>
            <a:ext cx="4382134" cy="211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91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477797-5DB6-AFF2-B5DB-517A554FA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828" y="503489"/>
            <a:ext cx="6197142" cy="6197142"/>
          </a:xfrm>
        </p:spPr>
      </p:pic>
    </p:spTree>
    <p:extLst>
      <p:ext uri="{BB962C8B-B14F-4D97-AF65-F5344CB8AC3E}">
        <p14:creationId xmlns:p14="http://schemas.microsoft.com/office/powerpoint/2010/main" val="4046608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185C-707D-7996-56E2-F29BF230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5️⃣ Social Engineering Tactics Used by Attackers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C4E54-8248-9B86-A652-BD6601D6E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08194" y="3086100"/>
            <a:ext cx="6574005" cy="2797342"/>
          </a:xfrm>
        </p:spPr>
        <p:txBody>
          <a:bodyPr>
            <a:normAutofit fontScale="92500"/>
          </a:bodyPr>
          <a:lstStyle/>
          <a:p>
            <a:r>
              <a:rPr lang="en-US" sz="2100" dirty="0"/>
              <a:t>Attackers manipulate </a:t>
            </a:r>
            <a:r>
              <a:rPr lang="en-US" sz="2100" b="1" dirty="0"/>
              <a:t>human psychology</a:t>
            </a:r>
            <a:r>
              <a:rPr lang="en-US" sz="2100" dirty="0"/>
              <a:t>, not systems.</a:t>
            </a:r>
          </a:p>
          <a:p>
            <a:r>
              <a:rPr lang="en-US" sz="2100" b="1" dirty="0"/>
              <a:t>Common Tactics:</a:t>
            </a:r>
          </a:p>
          <a:p>
            <a:r>
              <a:rPr lang="en-US" sz="2100" b="1" dirty="0"/>
              <a:t>&gt;Fear:</a:t>
            </a:r>
            <a:r>
              <a:rPr lang="en-US" sz="2100" dirty="0"/>
              <a:t> “Your account is compromised”</a:t>
            </a:r>
          </a:p>
          <a:p>
            <a:r>
              <a:rPr lang="en-US" sz="2100" b="1" dirty="0"/>
              <a:t>&gt;Authority:</a:t>
            </a:r>
            <a:r>
              <a:rPr lang="en-US" sz="2100" dirty="0"/>
              <a:t> “This is IT support”</a:t>
            </a:r>
          </a:p>
          <a:p>
            <a:r>
              <a:rPr lang="en-US" sz="2100" b="1" dirty="0"/>
              <a:t>&gt;Urgency:</a:t>
            </a:r>
            <a:r>
              <a:rPr lang="en-US" sz="2100" dirty="0"/>
              <a:t> “Respond within 10 minutes”</a:t>
            </a:r>
          </a:p>
          <a:p>
            <a:r>
              <a:rPr lang="en-US" sz="2100" b="1" dirty="0"/>
              <a:t>&gt;Greed:</a:t>
            </a:r>
            <a:r>
              <a:rPr lang="en-US" sz="2100" dirty="0"/>
              <a:t> “You won a prize”</a:t>
            </a:r>
          </a:p>
          <a:p>
            <a:r>
              <a:rPr lang="en-US" sz="2100" b="1" dirty="0"/>
              <a:t>&gt;Trust:</a:t>
            </a:r>
            <a:r>
              <a:rPr lang="en-US" sz="2100" dirty="0"/>
              <a:t> Pretending to be friends or colleagues</a:t>
            </a:r>
          </a:p>
          <a:p>
            <a:endParaRPr lang="en-IN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B93416E4-C9F0-30FD-7427-F201EDC7963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2" y="2515090"/>
            <a:ext cx="5233892" cy="3139753"/>
          </a:xfrm>
        </p:spPr>
      </p:pic>
    </p:spTree>
    <p:extLst>
      <p:ext uri="{BB962C8B-B14F-4D97-AF65-F5344CB8AC3E}">
        <p14:creationId xmlns:p14="http://schemas.microsoft.com/office/powerpoint/2010/main" val="1584900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22CD57-219F-9949-B387-F0F3B74EF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878" y="1460501"/>
            <a:ext cx="11165305" cy="5150852"/>
          </a:xfrm>
        </p:spPr>
        <p:txBody>
          <a:bodyPr/>
          <a:lstStyle/>
          <a:p>
            <a:r>
              <a:rPr lang="en-US" b="1" dirty="0"/>
              <a:t>🔐 What is Social Engineering?</a:t>
            </a:r>
          </a:p>
          <a:p>
            <a:r>
              <a:rPr lang="en-US" dirty="0"/>
              <a:t>Social engineering is a technique where attackers </a:t>
            </a:r>
            <a:r>
              <a:rPr lang="en-US" b="1" dirty="0"/>
              <a:t>manipulate human behavior and emotions</a:t>
            </a:r>
            <a:r>
              <a:rPr lang="en-US" dirty="0"/>
              <a:t> to gain access to confidential information, systems, or money.</a:t>
            </a:r>
          </a:p>
          <a:p>
            <a:r>
              <a:rPr lang="en-US" dirty="0"/>
              <a:t>➡️ Instead of hacking computers, attackers </a:t>
            </a:r>
            <a:r>
              <a:rPr lang="en-US" b="1" dirty="0"/>
              <a:t>hack people</a:t>
            </a:r>
            <a:r>
              <a:rPr lang="en-US" dirty="0"/>
              <a:t>.</a:t>
            </a:r>
          </a:p>
          <a:p>
            <a:r>
              <a:rPr lang="en-US" b="1" dirty="0"/>
              <a:t>🧠 Major Social Engineering Tactics</a:t>
            </a:r>
            <a:endParaRPr lang="en-US" dirty="0"/>
          </a:p>
          <a:p>
            <a:r>
              <a:rPr lang="en-US" b="1" dirty="0"/>
              <a:t>1️⃣ Authority-Based Attack</a:t>
            </a:r>
          </a:p>
          <a:p>
            <a:r>
              <a:rPr lang="en-US" dirty="0"/>
              <a:t>👔 </a:t>
            </a:r>
            <a:r>
              <a:rPr lang="en-US" b="1" dirty="0"/>
              <a:t>Tactic:</a:t>
            </a:r>
            <a:r>
              <a:rPr lang="en-US" dirty="0"/>
              <a:t> Pretending to be someone powerful or trusted.</a:t>
            </a:r>
          </a:p>
          <a:p>
            <a:r>
              <a:rPr lang="en-US" b="1" dirty="0"/>
              <a:t>2️⃣ Fear &amp; Threat Tactic</a:t>
            </a:r>
          </a:p>
          <a:p>
            <a:r>
              <a:rPr lang="en-US" dirty="0"/>
              <a:t>⚠️ </a:t>
            </a:r>
            <a:r>
              <a:rPr lang="en-US" b="1" dirty="0"/>
              <a:t>Tactic:</a:t>
            </a:r>
            <a:r>
              <a:rPr lang="en-US" dirty="0"/>
              <a:t> Scaring the victim into quick action.</a:t>
            </a:r>
          </a:p>
          <a:p>
            <a:r>
              <a:rPr lang="en-US" b="1" dirty="0"/>
              <a:t>3️⃣ Urgency &amp; Time Pressure</a:t>
            </a:r>
          </a:p>
          <a:p>
            <a:r>
              <a:rPr lang="en-US" dirty="0"/>
              <a:t>⏱️ </a:t>
            </a:r>
            <a:r>
              <a:rPr lang="en-US" b="1" dirty="0"/>
              <a:t>Tactic:</a:t>
            </a:r>
            <a:r>
              <a:rPr lang="en-US" dirty="0"/>
              <a:t> Creating artificial urgency.</a:t>
            </a:r>
          </a:p>
          <a:p>
            <a:r>
              <a:rPr lang="en-US" b="1" dirty="0"/>
              <a:t>4️⃣ Trust &amp; Familiarity</a:t>
            </a:r>
          </a:p>
          <a:p>
            <a:r>
              <a:rPr lang="en-US" dirty="0"/>
              <a:t>🤝 </a:t>
            </a:r>
            <a:r>
              <a:rPr lang="en-US" b="1" dirty="0"/>
              <a:t>Tactic:</a:t>
            </a:r>
            <a:r>
              <a:rPr lang="en-US" dirty="0"/>
              <a:t> Impersonating someone the victim trusts.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321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1361-4539-4761-EE05-CD4C52CBB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921" y="1305427"/>
            <a:ext cx="10274968" cy="543225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5️⃣ Greed &amp; Rewards</a:t>
            </a:r>
          </a:p>
          <a:p>
            <a:r>
              <a:rPr lang="en-US" dirty="0"/>
              <a:t>🎁 </a:t>
            </a:r>
            <a:r>
              <a:rPr lang="en-US" b="1" dirty="0"/>
              <a:t>Tactic:</a:t>
            </a:r>
            <a:r>
              <a:rPr lang="en-US" dirty="0"/>
              <a:t> Luring victims with benefits.</a:t>
            </a:r>
          </a:p>
          <a:p>
            <a:r>
              <a:rPr lang="en-US" b="1" dirty="0"/>
              <a:t>6️⃣ Curiosity Trap</a:t>
            </a:r>
          </a:p>
          <a:p>
            <a:r>
              <a:rPr lang="en-US" dirty="0"/>
              <a:t>🧩 </a:t>
            </a:r>
            <a:r>
              <a:rPr lang="en-US" b="1" dirty="0"/>
              <a:t>Tactic:</a:t>
            </a:r>
            <a:r>
              <a:rPr lang="en-US" dirty="0"/>
              <a:t> Triggering curiosity.</a:t>
            </a:r>
          </a:p>
          <a:p>
            <a:r>
              <a:rPr lang="en-US" b="1" dirty="0"/>
              <a:t>7️⃣ Sympathy &amp; Help-Seeking</a:t>
            </a:r>
          </a:p>
          <a:p>
            <a:r>
              <a:rPr lang="en-US" dirty="0"/>
              <a:t>😢 </a:t>
            </a:r>
            <a:r>
              <a:rPr lang="en-US" b="1" dirty="0"/>
              <a:t>Tactic:</a:t>
            </a:r>
            <a:r>
              <a:rPr lang="en-US" dirty="0"/>
              <a:t> Playing the victim.</a:t>
            </a:r>
          </a:p>
          <a:p>
            <a:r>
              <a:rPr lang="en-US" b="1" dirty="0"/>
              <a:t>🧩 Why Social Engineering is Effective</a:t>
            </a:r>
          </a:p>
          <a:p>
            <a:r>
              <a:rPr lang="en-US" dirty="0"/>
              <a:t>✔ Humans trust more than systems</a:t>
            </a:r>
            <a:br>
              <a:rPr lang="en-US" dirty="0"/>
            </a:br>
            <a:r>
              <a:rPr lang="en-US" dirty="0"/>
              <a:t>✔ Emotions override logic</a:t>
            </a:r>
            <a:br>
              <a:rPr lang="en-US" dirty="0"/>
            </a:br>
            <a:r>
              <a:rPr lang="en-US" dirty="0"/>
              <a:t>✔ Lack of awareness</a:t>
            </a:r>
            <a:br>
              <a:rPr lang="en-US" dirty="0"/>
            </a:br>
            <a:r>
              <a:rPr lang="en-US" dirty="0"/>
              <a:t>✔ Attack looks legitimate</a:t>
            </a:r>
          </a:p>
          <a:p>
            <a:r>
              <a:rPr lang="en-US" b="1" dirty="0"/>
              <a:t>🛡️ How to Defend Against Social Engineering</a:t>
            </a:r>
          </a:p>
          <a:p>
            <a:r>
              <a:rPr lang="en-US" dirty="0"/>
              <a:t>Think before reacting</a:t>
            </a:r>
          </a:p>
          <a:p>
            <a:r>
              <a:rPr lang="en-US" dirty="0"/>
              <a:t>Verify identity using official channels</a:t>
            </a:r>
          </a:p>
          <a:p>
            <a:r>
              <a:rPr lang="en-US" dirty="0"/>
              <a:t>Never share OTP, PIN, or passwords</a:t>
            </a:r>
          </a:p>
          <a:p>
            <a:r>
              <a:rPr lang="en-US" dirty="0"/>
              <a:t>Be suspicious of urgency</a:t>
            </a:r>
          </a:p>
          <a:p>
            <a:r>
              <a:rPr lang="en-US" dirty="0"/>
              <a:t>Educate employees &amp; users regularly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29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6D59-F032-2452-71BF-C3B08D42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6️⃣</a:t>
            </a:r>
            <a:r>
              <a:rPr lang="en-US" dirty="0"/>
              <a:t> Best Practices to Stay Safe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602AE-6CF3-5CAF-A687-5EBA28742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5168" y="2057400"/>
            <a:ext cx="5311775" cy="35252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✅ </a:t>
            </a:r>
            <a:r>
              <a:rPr lang="en-US" b="1" dirty="0"/>
              <a:t>Do This:</a:t>
            </a:r>
            <a:endParaRPr lang="en-US" dirty="0"/>
          </a:p>
          <a:p>
            <a:r>
              <a:rPr lang="en-US" dirty="0"/>
              <a:t>Enable </a:t>
            </a:r>
            <a:r>
              <a:rPr lang="en-US" b="1" dirty="0"/>
              <a:t>2-Factor Authentication (2FA)</a:t>
            </a:r>
            <a:endParaRPr lang="en-US" dirty="0"/>
          </a:p>
          <a:p>
            <a:r>
              <a:rPr lang="en-US" dirty="0"/>
              <a:t>Verify sender emails carefully</a:t>
            </a:r>
          </a:p>
          <a:p>
            <a:r>
              <a:rPr lang="en-US" dirty="0"/>
              <a:t>Hover over links before clicking</a:t>
            </a:r>
          </a:p>
          <a:p>
            <a:r>
              <a:rPr lang="en-US" dirty="0"/>
              <a:t>Keep software &amp; antivirus updated</a:t>
            </a:r>
          </a:p>
          <a:p>
            <a:r>
              <a:rPr lang="en-US" dirty="0"/>
              <a:t>Report suspicious emails</a:t>
            </a:r>
          </a:p>
          <a:p>
            <a:r>
              <a:rPr lang="en-US" dirty="0"/>
              <a:t>❌ </a:t>
            </a:r>
            <a:r>
              <a:rPr lang="en-US" b="1" dirty="0"/>
              <a:t>Never:</a:t>
            </a:r>
            <a:endParaRPr lang="en-US" dirty="0"/>
          </a:p>
          <a:p>
            <a:r>
              <a:rPr lang="en-US" dirty="0"/>
              <a:t>Share OTPs or passwords</a:t>
            </a:r>
          </a:p>
          <a:p>
            <a:r>
              <a:rPr lang="en-US" dirty="0"/>
              <a:t>Click unknown links</a:t>
            </a:r>
          </a:p>
          <a:p>
            <a:r>
              <a:rPr lang="en-US" dirty="0"/>
              <a:t>Download unknown attachments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FE333F3-0C15-F352-5C52-155185BCC2C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496" y="2003258"/>
            <a:ext cx="6160929" cy="4265722"/>
          </a:xfrm>
        </p:spPr>
      </p:pic>
    </p:spTree>
    <p:extLst>
      <p:ext uri="{BB962C8B-B14F-4D97-AF65-F5344CB8AC3E}">
        <p14:creationId xmlns:p14="http://schemas.microsoft.com/office/powerpoint/2010/main" val="807689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952959-83CD-D26E-1182-0D40A0A49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490" y="246814"/>
            <a:ext cx="4572609" cy="6465386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21479F-9144-70A0-BF1A-BCDB694EF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8519" y="360947"/>
            <a:ext cx="6057901" cy="6262437"/>
          </a:xfrm>
        </p:spPr>
        <p:txBody>
          <a:bodyPr>
            <a:normAutofit/>
          </a:bodyPr>
          <a:lstStyle/>
          <a:p>
            <a:r>
              <a:rPr lang="en-US" b="1" dirty="0"/>
              <a:t>1️⃣ Do Not Click Suspicious Links</a:t>
            </a:r>
          </a:p>
          <a:p>
            <a:r>
              <a:rPr lang="en-US" dirty="0"/>
              <a:t>🔗 </a:t>
            </a:r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Phishing links redirect users to fake websites that steal login credentials.</a:t>
            </a:r>
          </a:p>
          <a:p>
            <a:r>
              <a:rPr lang="en-US" dirty="0"/>
              <a:t>📌 </a:t>
            </a: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SMS: </a:t>
            </a:r>
            <a:r>
              <a:rPr lang="en-US" i="1" dirty="0"/>
              <a:t>“Your parcel is delayed. Click here to track.”</a:t>
            </a:r>
            <a:br>
              <a:rPr lang="en-US" dirty="0"/>
            </a:br>
            <a:r>
              <a:rPr lang="en-US" dirty="0"/>
              <a:t>➡️ </a:t>
            </a:r>
            <a:r>
              <a:rPr lang="en-US" b="1" dirty="0"/>
              <a:t>Correct action:</a:t>
            </a:r>
            <a:r>
              <a:rPr lang="en-US" dirty="0"/>
              <a:t> Open courier website manually instead of clicking the link.</a:t>
            </a:r>
          </a:p>
          <a:p>
            <a:r>
              <a:rPr lang="en-IN" dirty="0"/>
              <a:t>2️⃣</a:t>
            </a:r>
            <a:r>
              <a:rPr lang="en-US" b="1" dirty="0"/>
              <a:t> Enable Two-Factor Authentication (2FA)</a:t>
            </a:r>
          </a:p>
          <a:p>
            <a:r>
              <a:rPr lang="en-US" dirty="0"/>
              <a:t>🔑 </a:t>
            </a:r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2FA adds an extra security layer even if your password is compromised.</a:t>
            </a:r>
          </a:p>
          <a:p>
            <a:r>
              <a:rPr lang="en-US" dirty="0"/>
              <a:t>📌 </a:t>
            </a: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Even if an attacker steals your email password, they cannot log in without OTP from your phone.</a:t>
            </a:r>
          </a:p>
          <a:p>
            <a:r>
              <a:rPr lang="en-IN" dirty="0"/>
              <a:t>3️⃣</a:t>
            </a:r>
            <a:r>
              <a:rPr lang="en-IN" b="1" dirty="0"/>
              <a:t> Keep Software and Antivirus Updated</a:t>
            </a:r>
          </a:p>
          <a:p>
            <a:r>
              <a:rPr lang="en-IN" dirty="0"/>
              <a:t>🛠️ </a:t>
            </a:r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Updates fix security vulnerabilities that attackers exploit.</a:t>
            </a:r>
          </a:p>
          <a:p>
            <a:r>
              <a:rPr lang="en-IN" dirty="0"/>
              <a:t>📌 </a:t>
            </a: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Updated browser blocks fake phishing websites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295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D5D3B1-802C-88B7-2821-3DD4B71E5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773" y="1185110"/>
            <a:ext cx="9448800" cy="734906"/>
          </a:xfrm>
        </p:spPr>
        <p:txBody>
          <a:bodyPr>
            <a:normAutofit/>
          </a:bodyPr>
          <a:lstStyle/>
          <a:p>
            <a:r>
              <a:rPr lang="en-IN" sz="4000" dirty="0"/>
              <a:t>7️⃣Real world phishing examples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9784351-1A44-91C2-B32F-1E82F041F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227" y="2110205"/>
            <a:ext cx="10738184" cy="4537241"/>
          </a:xfrm>
        </p:spPr>
        <p:txBody>
          <a:bodyPr/>
          <a:lstStyle/>
          <a:p>
            <a:r>
              <a:rPr lang="en-IN" dirty="0"/>
              <a:t>📌 </a:t>
            </a:r>
            <a:r>
              <a:rPr lang="en-IN" b="1" dirty="0"/>
              <a:t>Example 1:</a:t>
            </a:r>
            <a:br>
              <a:rPr lang="en-IN" dirty="0"/>
            </a:br>
            <a:r>
              <a:rPr lang="en-IN" dirty="0"/>
              <a:t>Fake bank email asking to “verify account” → leads to fake login page → credentials stolen.</a:t>
            </a:r>
          </a:p>
          <a:p>
            <a:r>
              <a:rPr lang="en-IN" dirty="0"/>
              <a:t>📌 </a:t>
            </a:r>
            <a:r>
              <a:rPr lang="en-IN" b="1" dirty="0"/>
              <a:t>Example 2:</a:t>
            </a:r>
            <a:br>
              <a:rPr lang="en-IN" dirty="0"/>
            </a:br>
            <a:r>
              <a:rPr lang="en-IN" dirty="0"/>
              <a:t>SMS: </a:t>
            </a:r>
            <a:r>
              <a:rPr lang="en-IN" i="1" dirty="0"/>
              <a:t>“Your parcel is pending. Click here to track”</a:t>
            </a:r>
            <a:r>
              <a:rPr lang="en-IN" dirty="0"/>
              <a:t> → malware installation.</a:t>
            </a:r>
          </a:p>
          <a:p>
            <a:r>
              <a:rPr lang="en-IN" dirty="0"/>
              <a:t>📌 </a:t>
            </a:r>
            <a:r>
              <a:rPr lang="en-IN" b="1" dirty="0"/>
              <a:t>Example 3:</a:t>
            </a:r>
            <a:br>
              <a:rPr lang="en-IN" dirty="0"/>
            </a:br>
            <a:r>
              <a:rPr lang="en-IN" dirty="0"/>
              <a:t>Email pretending to be HR asking for salary details.</a:t>
            </a:r>
          </a:p>
          <a:p>
            <a:r>
              <a:rPr lang="en-US" dirty="0"/>
              <a:t>📌 </a:t>
            </a:r>
            <a:r>
              <a:rPr lang="en-US" b="1" dirty="0"/>
              <a:t>Example 4:</a:t>
            </a:r>
            <a:br>
              <a:rPr lang="en-US" dirty="0"/>
            </a:br>
            <a:r>
              <a:rPr lang="en-US" dirty="0"/>
              <a:t>“Hello, I am calling from your bank’s fraud department. Share OTP immediately.”</a:t>
            </a:r>
          </a:p>
          <a:p>
            <a:r>
              <a:rPr lang="en-US" dirty="0"/>
              <a:t>📌 </a:t>
            </a:r>
            <a:r>
              <a:rPr lang="en-US" b="1" dirty="0"/>
              <a:t>Example 5:</a:t>
            </a:r>
            <a:br>
              <a:rPr lang="en-US" dirty="0"/>
            </a:br>
            <a:r>
              <a:rPr lang="en-US" dirty="0"/>
              <a:t>“Your account is hacked. Act now or funds will be lost.”</a:t>
            </a:r>
          </a:p>
          <a:p>
            <a:r>
              <a:rPr lang="en-US" dirty="0"/>
              <a:t>📌 </a:t>
            </a:r>
            <a:r>
              <a:rPr lang="en-US" b="1" dirty="0"/>
              <a:t>Example 6:</a:t>
            </a:r>
            <a:br>
              <a:rPr lang="en-US" dirty="0"/>
            </a:br>
            <a:r>
              <a:rPr lang="en-US" dirty="0"/>
              <a:t>“You have won ₹50,000. Click here to claim.”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51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7F4E0758-B9D9-8F74-EE5B-F341E3F19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992" y="499310"/>
            <a:ext cx="11014911" cy="606993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📧 Brief Example of a Phishing Attack</a:t>
            </a:r>
          </a:p>
          <a:p>
            <a:r>
              <a:rPr lang="en-US" b="1" dirty="0"/>
              <a:t>Scenario:</a:t>
            </a:r>
            <a:br>
              <a:rPr lang="en-US" dirty="0"/>
            </a:br>
            <a:r>
              <a:rPr lang="en-US" dirty="0"/>
              <a:t>You receive an email that looks like it’s from your bank.</a:t>
            </a:r>
          </a:p>
          <a:p>
            <a:r>
              <a:rPr lang="en-US" b="1" dirty="0"/>
              <a:t>Email says:</a:t>
            </a:r>
            <a:endParaRPr lang="en-US" dirty="0"/>
          </a:p>
          <a:p>
            <a:r>
              <a:rPr lang="en-US" i="1" dirty="0"/>
              <a:t>“Your bank account will be blocked due to suspicious activity. Click the link below to verify your account immediately.”</a:t>
            </a:r>
            <a:endParaRPr lang="en-US" dirty="0"/>
          </a:p>
          <a:p>
            <a:r>
              <a:rPr lang="en-US" b="1" dirty="0"/>
              <a:t>What happens next:</a:t>
            </a:r>
            <a:endParaRPr lang="en-US" dirty="0"/>
          </a:p>
          <a:p>
            <a:r>
              <a:rPr lang="en-US" dirty="0"/>
              <a:t>1)You click the link</a:t>
            </a:r>
          </a:p>
          <a:p>
            <a:r>
              <a:rPr lang="en-US" dirty="0"/>
              <a:t>2)A fake bank website opens</a:t>
            </a:r>
          </a:p>
          <a:p>
            <a:r>
              <a:rPr lang="en-US" dirty="0"/>
              <a:t>3)You enter your username, password, and OTP</a:t>
            </a:r>
          </a:p>
          <a:p>
            <a:r>
              <a:rPr lang="en-US" dirty="0"/>
              <a:t>4)Attacker steals your details and accesses your account</a:t>
            </a:r>
          </a:p>
          <a:p>
            <a:r>
              <a:rPr lang="en-US" b="1" dirty="0"/>
              <a:t>Why this is phishing:</a:t>
            </a:r>
            <a:endParaRPr lang="en-US" dirty="0"/>
          </a:p>
          <a:p>
            <a:r>
              <a:rPr lang="en-US" dirty="0"/>
              <a:t>-&gt;Creates urgency</a:t>
            </a:r>
          </a:p>
          <a:p>
            <a:r>
              <a:rPr lang="en-US" dirty="0"/>
              <a:t>-&gt;Uses fear</a:t>
            </a:r>
          </a:p>
          <a:p>
            <a:r>
              <a:rPr lang="en-US" dirty="0"/>
              <a:t>-&gt;Fake link and website</a:t>
            </a:r>
          </a:p>
          <a:p>
            <a:r>
              <a:rPr lang="en-US" dirty="0"/>
              <a:t>-&gt;Asks for sensitive information</a:t>
            </a:r>
          </a:p>
          <a:p>
            <a:r>
              <a:rPr lang="en-US" dirty="0"/>
              <a:t>✅ </a:t>
            </a:r>
            <a:r>
              <a:rPr lang="en-US" b="1" dirty="0"/>
              <a:t>Correct action:</a:t>
            </a:r>
            <a:br>
              <a:rPr lang="en-US" dirty="0"/>
            </a:br>
            <a:r>
              <a:rPr lang="en-US" dirty="0"/>
              <a:t>Do not click the link. Open the bank’s official website manually or contact customer care.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750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268D-7850-37F7-C8AF-5F4A47C85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125" y="1104386"/>
            <a:ext cx="10774279" cy="752953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8️⃣Interactive</a:t>
            </a:r>
            <a:r>
              <a:rPr lang="en-IN" dirty="0"/>
              <a:t> </a:t>
            </a:r>
            <a:r>
              <a:rPr lang="en-IN" sz="4000" dirty="0"/>
              <a:t>Quiz (For Engagement)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D538C-868A-0B66-EB5A-D17EF803C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32" y="2068096"/>
            <a:ext cx="11538284" cy="4453020"/>
          </a:xfrm>
        </p:spPr>
        <p:txBody>
          <a:bodyPr/>
          <a:lstStyle/>
          <a:p>
            <a:r>
              <a:rPr lang="en-US" b="1" dirty="0"/>
              <a:t>🧠 Quiz 1:</a:t>
            </a:r>
          </a:p>
          <a:p>
            <a:r>
              <a:rPr lang="en-US" b="1" dirty="0"/>
              <a:t>You receive an email saying your bank account will be locked in 30 minutes. What should you do?</a:t>
            </a:r>
            <a:endParaRPr lang="en-US" dirty="0"/>
          </a:p>
          <a:p>
            <a:r>
              <a:rPr lang="en-US" dirty="0"/>
              <a:t>A) Click the link immediately</a:t>
            </a:r>
            <a:br>
              <a:rPr lang="en-US" dirty="0"/>
            </a:br>
            <a:r>
              <a:rPr lang="en-US" dirty="0"/>
              <a:t>B) Reply with details</a:t>
            </a:r>
            <a:br>
              <a:rPr lang="en-US" dirty="0"/>
            </a:br>
            <a:r>
              <a:rPr lang="en-US" dirty="0"/>
              <a:t>C) Ignore the email and contact bank via official website ✅</a:t>
            </a:r>
            <a:br>
              <a:rPr lang="en-US" dirty="0"/>
            </a:br>
            <a:r>
              <a:rPr lang="en-US" dirty="0"/>
              <a:t>D) Forward to friends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5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1D539-4A65-075B-375C-BD7DB4813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🧠 Quiz 2:</a:t>
            </a:r>
          </a:p>
          <a:p>
            <a:r>
              <a:rPr lang="en-US" b="1" dirty="0"/>
              <a:t>Which URL looks suspicious?</a:t>
            </a:r>
            <a:endParaRPr lang="en-US" dirty="0"/>
          </a:p>
          <a:p>
            <a:r>
              <a:rPr lang="en-US" dirty="0"/>
              <a:t>A) https://www.amazon.in</a:t>
            </a:r>
            <a:br>
              <a:rPr lang="en-US" dirty="0"/>
            </a:br>
            <a:r>
              <a:rPr lang="en-US" dirty="0"/>
              <a:t>B) https://www.amaz0n-support.com ✅</a:t>
            </a:r>
            <a:br>
              <a:rPr lang="en-US" dirty="0"/>
            </a:br>
            <a:r>
              <a:rPr lang="en-US" dirty="0"/>
              <a:t>C) https://www.google.com</a:t>
            </a:r>
            <a:br>
              <a:rPr lang="en-US" dirty="0"/>
            </a:br>
            <a:r>
              <a:rPr lang="en-US" dirty="0"/>
              <a:t>D) https://www.microsoft.com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520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572F-5A15-CE81-678F-3F87FD24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🧠 Quiz 3:</a:t>
            </a:r>
          </a:p>
          <a:p>
            <a:r>
              <a:rPr lang="en-US" b="1" dirty="0"/>
              <a:t>Phishing mainly exploits:</a:t>
            </a:r>
            <a:endParaRPr lang="en-US" dirty="0"/>
          </a:p>
          <a:p>
            <a:r>
              <a:rPr lang="en-US" dirty="0"/>
              <a:t>A) Weak hardware</a:t>
            </a:r>
            <a:br>
              <a:rPr lang="en-US" dirty="0"/>
            </a:br>
            <a:r>
              <a:rPr lang="en-US" dirty="0"/>
              <a:t>B) Network cables</a:t>
            </a:r>
            <a:br>
              <a:rPr lang="en-US" dirty="0"/>
            </a:br>
            <a:r>
              <a:rPr lang="en-US" dirty="0"/>
              <a:t>C) Human psychology ✅</a:t>
            </a:r>
            <a:br>
              <a:rPr lang="en-US" dirty="0"/>
            </a:br>
            <a:r>
              <a:rPr lang="en-US" dirty="0"/>
              <a:t>D) Firewalls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694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5212-F359-2ACC-7886-47E2BAB0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1955499"/>
            <a:ext cx="11283616" cy="3169953"/>
          </a:xfrm>
        </p:spPr>
        <p:txBody>
          <a:bodyPr>
            <a:normAutofit/>
          </a:bodyPr>
          <a:lstStyle/>
          <a:p>
            <a:r>
              <a:rPr lang="en-US" sz="2000" dirty="0"/>
              <a:t>“To stay safe from phishing attacks, users should verify senders, avoid clicking suspicious links, never share OTPs or passwords, enable two-factor authentication, and remain calm during urgent messages. Awareness is the strongest defense.”</a:t>
            </a:r>
            <a:br>
              <a:rPr lang="en-US" sz="2000" dirty="0"/>
            </a:b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E68E0-E9A0-B308-F5A0-466C0858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498431"/>
            <a:ext cx="5410199" cy="720253"/>
          </a:xfrm>
        </p:spPr>
        <p:txBody>
          <a:bodyPr/>
          <a:lstStyle/>
          <a:p>
            <a:r>
              <a:rPr lang="en-US" dirty="0"/>
              <a:t>Thank you and stay safe online.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76487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52</TotalTime>
  <Words>1342</Words>
  <Application>Microsoft Office PowerPoint</Application>
  <PresentationFormat>Widescreen</PresentationFormat>
  <Paragraphs>165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Century Gothic</vt:lpstr>
      <vt:lpstr>Vapor Trail</vt:lpstr>
      <vt:lpstr>Phishing Awareness    Training</vt:lpstr>
      <vt:lpstr>1️⃣ What is Phishing?</vt:lpstr>
      <vt:lpstr>Some basic example of phishing</vt:lpstr>
      <vt:lpstr>2️⃣Types of phishing</vt:lpstr>
      <vt:lpstr>Email phishing</vt:lpstr>
      <vt:lpstr>Spear Phishing</vt:lpstr>
      <vt:lpstr>Smishing (SMS Phishing)</vt:lpstr>
      <vt:lpstr>3️⃣How to Recognize Phishing Emails</vt:lpstr>
      <vt:lpstr>4️⃣ How to Identify Fake Websites</vt:lpstr>
      <vt:lpstr>PowerPoint Presentation</vt:lpstr>
      <vt:lpstr>5️⃣ Social Engineering Tactics Used by Attackers</vt:lpstr>
      <vt:lpstr>PowerPoint Presentation</vt:lpstr>
      <vt:lpstr>PowerPoint Presentation</vt:lpstr>
      <vt:lpstr>6️⃣ Best Practices to Stay Safe</vt:lpstr>
      <vt:lpstr>PowerPoint Presentation</vt:lpstr>
      <vt:lpstr>7️⃣Real world phishing examples</vt:lpstr>
      <vt:lpstr>PowerPoint Presentation</vt:lpstr>
      <vt:lpstr>8️⃣Interactive Quiz (For Engagement)</vt:lpstr>
      <vt:lpstr>PowerPoint Presentation</vt:lpstr>
      <vt:lpstr>PowerPoint Presentation</vt:lpstr>
      <vt:lpstr>“To stay safe from phishing attacks, users should verify senders, avoid clicking suspicious links, never share OTPs or passwords, enable two-factor authentication, and remain calm during urgent messages. Awareness is the strongest defense.”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aarav sharma</dc:creator>
  <cp:keywords>dec_2025</cp:keywords>
  <cp:lastModifiedBy>aarav sharma</cp:lastModifiedBy>
  <cp:revision>3</cp:revision>
  <dcterms:created xsi:type="dcterms:W3CDTF">2025-12-15T11:03:31Z</dcterms:created>
  <dcterms:modified xsi:type="dcterms:W3CDTF">2025-12-15T11:55:43Z</dcterms:modified>
</cp:coreProperties>
</file>